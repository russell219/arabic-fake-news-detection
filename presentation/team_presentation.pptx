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0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650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3C5FD"/>
                </a:solidFill>
              </a:rPr>
              <a:t>A Hybrid AI Framework for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Arabic Fake News Detection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and Fact Verification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3200400"/>
            <a:ext cx="2011680" cy="1097280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914400" y="33101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Sarah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69417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Text Classification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3200400"/>
            <a:ext cx="2011680" cy="1097280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3566160" y="33101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Russell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369417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RAG 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3200400"/>
            <a:ext cx="2011680" cy="1097280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6217920" y="33101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Youssef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3694176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Verdict Engine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Supervisor: Dr. Cherry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827"/>
                </a:solidFill>
              </a:rPr>
              <a:t>System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</a:rPr>
              <a:t>Sequential three-system pipeline — Arabic claim → classification → retrieval → verdict</a:t>
            </a:r>
            <a:endParaRPr lang="en-US" sz="1100" dirty="0"/>
          </a:p>
        </p:txBody>
      </p:sp>
      <p:pic>
        <p:nvPicPr>
          <p:cNvPr id="4" name="Image 0" descr="/Users/russelltamer/Desktop/system 2 RAG/full_system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868680"/>
            <a:ext cx="58521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System 1 — Sarah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</a:rPr>
              <a:t>Text Classification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86868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1790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MARBERt fine-tuned on Arabic fake news dataset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4023360" cy="86868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Comparison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2374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Transformer vs CNN vs SVM — evaluates multiple approaches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4023360" cy="86868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Dialect Support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52958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Handles both MSA and Egyptian Arabic input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1430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Output Signals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508760"/>
            <a:ext cx="4023360" cy="82296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4892040" y="15819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</a:rPr>
              <a:t>FAKE_LIKELY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8379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High suspicion → sent to Russell for verification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514600"/>
            <a:ext cx="4023360" cy="8229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4892040" y="25877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</a:rPr>
              <a:t>UNCERTAIN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8437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Borderline → Russell retrieves evidence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4023360" cy="82296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4892040" y="35935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REAL_LIKELY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84962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</a:rPr>
              <a:t>Looks true → still verified by Russell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All three outputs → forwarded to Russell with confidence score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System 2A — Russell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RAG Fact-Verification Engine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201168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</a:rPr>
              <a:t>Bucket A — Verified Claims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21,001 claims · AraFacts + Saheeh Masr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E5-large multilingual embeddings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64592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16459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</a:rPr>
              <a:t>HIGH ≥ 0.86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</a:rPr>
              <a:t>Direct verdict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0" y="1920240"/>
            <a:ext cx="192024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2" name="Text 10"/>
          <p:cNvSpPr/>
          <p:nvPr/>
        </p:nvSpPr>
        <p:spPr>
          <a:xfrm>
            <a:off x="2286000" y="1938528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POSSIBLE ≥ 0.84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→ Youssef NLI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Egyptian dialect normalization via CAMeL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651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Score &lt; 0.84 → escalate to Bucket 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023360" cy="201168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6" name="Text 14"/>
          <p:cNvSpPr/>
          <p:nvPr/>
        </p:nvSpPr>
        <p:spPr>
          <a:xfrm>
            <a:off x="4892040" y="11704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1B6"/>
                </a:solidFill>
              </a:rPr>
              <a:t>Bucket B — News Knowledge 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447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20,687 propositions · 25 Arabic sources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16642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1. RRF hybrid: BM25 + E5-large fusion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19202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2. NER entity boosting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21762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3. Cross-encoder reranker (top-20 → top-5)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92040" y="2450592"/>
            <a:ext cx="374904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4892040" y="2468880"/>
            <a:ext cx="37490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</a:rPr>
              <a:t>EVIDENCE_FOUND → Youssef NLI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11827"/>
                </a:solidFill>
              </a:rPr>
              <a:t>LOW_CONFIDENCE → UNVERIFIED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3246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Papers Implemented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547872"/>
            <a:ext cx="201168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365760" y="3566160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ARAG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RRF + NER boosting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0" y="3547872"/>
            <a:ext cx="201168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7" name="Text 25"/>
          <p:cNvSpPr/>
          <p:nvPr/>
        </p:nvSpPr>
        <p:spPr>
          <a:xfrm>
            <a:off x="2560320" y="3566160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E5-large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Multilingual embeddings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3547872"/>
            <a:ext cx="201168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Text 27"/>
          <p:cNvSpPr/>
          <p:nvPr/>
        </p:nvSpPr>
        <p:spPr>
          <a:xfrm>
            <a:off x="4754880" y="3566160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BM25 + ISRI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Arabic stemming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949440" y="3547872"/>
            <a:ext cx="201168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1" name="Text 29"/>
          <p:cNvSpPr/>
          <p:nvPr/>
        </p:nvSpPr>
        <p:spPr>
          <a:xfrm>
            <a:off x="6949440" y="3566160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Cross-Encoder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11827"/>
                </a:solidFill>
              </a:rPr>
              <a:t>Reranking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Evaluation Results — System 2A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200 AraFacts pairs · K=5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Bucket A Retrieval — v1 vs v2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194560" cy="320040"/>
          </a:xfrm>
          <a:prstGeom prst="rect">
            <a:avLst/>
          </a:prstGeom>
          <a:solidFill>
            <a:srgbClr val="1F3A6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Text 5"/>
          <p:cNvSpPr/>
          <p:nvPr/>
        </p:nvSpPr>
        <p:spPr>
          <a:xfrm>
            <a:off x="411480" y="1408176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System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822960" cy="320040"/>
          </a:xfrm>
          <a:prstGeom prst="rect">
            <a:avLst/>
          </a:prstGeom>
          <a:solidFill>
            <a:srgbClr val="1F3A6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9" name="Text 7"/>
          <p:cNvSpPr/>
          <p:nvPr/>
        </p:nvSpPr>
        <p:spPr>
          <a:xfrm>
            <a:off x="2651760" y="1408176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P@1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56432" y="1371600"/>
            <a:ext cx="822960" cy="320040"/>
          </a:xfrm>
          <a:prstGeom prst="rect">
            <a:avLst/>
          </a:prstGeom>
          <a:solidFill>
            <a:srgbClr val="1F3A6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3502152" y="1408176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R@3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06824" y="1371600"/>
            <a:ext cx="822960" cy="320040"/>
          </a:xfrm>
          <a:prstGeom prst="rect">
            <a:avLst/>
          </a:prstGeom>
          <a:solidFill>
            <a:srgbClr val="1F3A6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Text 11"/>
          <p:cNvSpPr/>
          <p:nvPr/>
        </p:nvSpPr>
        <p:spPr>
          <a:xfrm>
            <a:off x="4352544" y="1408176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MRR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719072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5" name="Text 13"/>
          <p:cNvSpPr/>
          <p:nvPr/>
        </p:nvSpPr>
        <p:spPr>
          <a:xfrm>
            <a:off x="411480" y="175564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</a:rPr>
              <a:t>BM25 only (v1)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06040" y="1719072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" name="Text 15"/>
          <p:cNvSpPr/>
          <p:nvPr/>
        </p:nvSpPr>
        <p:spPr>
          <a:xfrm>
            <a:off x="2651760" y="1755648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0.880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56432" y="1719072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3502152" y="1755648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0.920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06824" y="1719072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1" name="Text 19"/>
          <p:cNvSpPr/>
          <p:nvPr/>
        </p:nvSpPr>
        <p:spPr>
          <a:xfrm>
            <a:off x="4352544" y="1755648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0.899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066544"/>
            <a:ext cx="219456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3" name="Text 21"/>
          <p:cNvSpPr/>
          <p:nvPr/>
        </p:nvSpPr>
        <p:spPr>
          <a:xfrm>
            <a:off x="411480" y="2103120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</a:rPr>
              <a:t>AraBERT only (v1)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06040" y="2066544"/>
            <a:ext cx="82296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5" name="Text 23"/>
          <p:cNvSpPr/>
          <p:nvPr/>
        </p:nvSpPr>
        <p:spPr>
          <a:xfrm>
            <a:off x="2651760" y="2103120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0.415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56432" y="2066544"/>
            <a:ext cx="82296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7" name="Text 25"/>
          <p:cNvSpPr/>
          <p:nvPr/>
        </p:nvSpPr>
        <p:spPr>
          <a:xfrm>
            <a:off x="3502152" y="2103120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0.630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06824" y="2066544"/>
            <a:ext cx="82296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9" name="Text 27"/>
          <p:cNvSpPr/>
          <p:nvPr/>
        </p:nvSpPr>
        <p:spPr>
          <a:xfrm>
            <a:off x="4352544" y="2103120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0.527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2414016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1" name="Text 29"/>
          <p:cNvSpPr/>
          <p:nvPr/>
        </p:nvSpPr>
        <p:spPr>
          <a:xfrm>
            <a:off x="411480" y="2450592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</a:rPr>
              <a:t>Hybrid v1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06040" y="2414016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3" name="Text 31"/>
          <p:cNvSpPr/>
          <p:nvPr/>
        </p:nvSpPr>
        <p:spPr>
          <a:xfrm>
            <a:off x="2651760" y="2450592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0.885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56432" y="2414016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5" name="Text 33"/>
          <p:cNvSpPr/>
          <p:nvPr/>
        </p:nvSpPr>
        <p:spPr>
          <a:xfrm>
            <a:off x="3502152" y="2450592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0.930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06824" y="2414016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7" name="Text 35"/>
          <p:cNvSpPr/>
          <p:nvPr/>
        </p:nvSpPr>
        <p:spPr>
          <a:xfrm>
            <a:off x="4352544" y="2450592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0.909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2761488"/>
            <a:ext cx="219456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9" name="Text 37"/>
          <p:cNvSpPr/>
          <p:nvPr/>
        </p:nvSpPr>
        <p:spPr>
          <a:xfrm>
            <a:off x="411480" y="2798064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</a:rPr>
              <a:t>BM25 only (v2)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606040" y="2761488"/>
            <a:ext cx="82296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1" name="Text 39"/>
          <p:cNvSpPr/>
          <p:nvPr/>
        </p:nvSpPr>
        <p:spPr>
          <a:xfrm>
            <a:off x="2651760" y="2798064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0.910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56432" y="2761488"/>
            <a:ext cx="82296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3" name="Text 41"/>
          <p:cNvSpPr/>
          <p:nvPr/>
        </p:nvSpPr>
        <p:spPr>
          <a:xfrm>
            <a:off x="3502152" y="2798064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0.940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306824" y="2761488"/>
            <a:ext cx="82296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5" name="Text 43"/>
          <p:cNvSpPr/>
          <p:nvPr/>
        </p:nvSpPr>
        <p:spPr>
          <a:xfrm>
            <a:off x="4352544" y="2798064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0.929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3108960"/>
            <a:ext cx="219456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7" name="Text 45"/>
          <p:cNvSpPr/>
          <p:nvPr/>
        </p:nvSpPr>
        <p:spPr>
          <a:xfrm>
            <a:off x="411480" y="3145536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66534"/>
                </a:solidFill>
              </a:rPr>
              <a:t>E5-large only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606040" y="3108960"/>
            <a:ext cx="82296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9" name="Text 47"/>
          <p:cNvSpPr/>
          <p:nvPr/>
        </p:nvSpPr>
        <p:spPr>
          <a:xfrm>
            <a:off x="2651760" y="3145536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</a:rPr>
              <a:t>0.965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456432" y="3108960"/>
            <a:ext cx="82296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1" name="Text 49"/>
          <p:cNvSpPr/>
          <p:nvPr/>
        </p:nvSpPr>
        <p:spPr>
          <a:xfrm>
            <a:off x="3502152" y="3145536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</a:rPr>
              <a:t>0.980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306824" y="3108960"/>
            <a:ext cx="82296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3" name="Text 51"/>
          <p:cNvSpPr/>
          <p:nvPr/>
        </p:nvSpPr>
        <p:spPr>
          <a:xfrm>
            <a:off x="4352544" y="3145536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</a:rPr>
              <a:t>0.972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3456432"/>
            <a:ext cx="219456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5" name="Text 53"/>
          <p:cNvSpPr/>
          <p:nvPr/>
        </p:nvSpPr>
        <p:spPr>
          <a:xfrm>
            <a:off x="411480" y="349300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</a:rPr>
              <a:t>RRF Hybrid v2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606040" y="3456432"/>
            <a:ext cx="82296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7" name="Text 55"/>
          <p:cNvSpPr/>
          <p:nvPr/>
        </p:nvSpPr>
        <p:spPr>
          <a:xfrm>
            <a:off x="2651760" y="3493008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0.935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456432" y="3456432"/>
            <a:ext cx="82296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9" name="Text 57"/>
          <p:cNvSpPr/>
          <p:nvPr/>
        </p:nvSpPr>
        <p:spPr>
          <a:xfrm>
            <a:off x="3502152" y="3493008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0.980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306824" y="3456432"/>
            <a:ext cx="82296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1" name="Text 59"/>
          <p:cNvSpPr/>
          <p:nvPr/>
        </p:nvSpPr>
        <p:spPr>
          <a:xfrm>
            <a:off x="4352544" y="3493008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0.958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65760" y="3840480"/>
            <a:ext cx="5029200" cy="65836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3" name="Text 61"/>
          <p:cNvSpPr/>
          <p:nvPr/>
        </p:nvSpPr>
        <p:spPr>
          <a:xfrm>
            <a:off x="457200" y="3867912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6534"/>
                </a:solidFill>
              </a:rPr>
              <a:t>Why E5-large alone &gt; Hybrid on AraFacts: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57200" y="408736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11827"/>
                </a:solidFill>
              </a:rPr>
              <a:t>AraFacts is MSA-dominant — BM25 already scores 0.910, so RRF fusion adds slight noise (0.965 → 0.935). On dialectal or paraphrased input, hybrid wins: see dialect 0.980 above.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486400" y="1051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Paraphrase Robustness (Bucket A)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486400" y="1371600"/>
            <a:ext cx="2468880" cy="320040"/>
          </a:xfrm>
          <a:prstGeom prst="rect">
            <a:avLst/>
          </a:prstGeom>
          <a:solidFill>
            <a:srgbClr val="1F3A6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7" name="Text 65"/>
          <p:cNvSpPr/>
          <p:nvPr/>
        </p:nvSpPr>
        <p:spPr>
          <a:xfrm>
            <a:off x="5532120" y="1408176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Level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046720" y="1371600"/>
            <a:ext cx="822960" cy="320040"/>
          </a:xfrm>
          <a:prstGeom prst="rect">
            <a:avLst/>
          </a:prstGeom>
          <a:solidFill>
            <a:srgbClr val="1F3A6E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9" name="Text 67"/>
          <p:cNvSpPr/>
          <p:nvPr/>
        </p:nvSpPr>
        <p:spPr>
          <a:xfrm>
            <a:off x="8092440" y="1408176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P@1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486400" y="1719072"/>
            <a:ext cx="2468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1" name="Text 69"/>
          <p:cNvSpPr/>
          <p:nvPr/>
        </p:nvSpPr>
        <p:spPr>
          <a:xfrm>
            <a:off x="5532120" y="1755648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</a:rPr>
              <a:t>Light rewording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046720" y="1719072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3" name="Text 71"/>
          <p:cNvSpPr/>
          <p:nvPr/>
        </p:nvSpPr>
        <p:spPr>
          <a:xfrm>
            <a:off x="8092440" y="1755648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1.000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486400" y="2066544"/>
            <a:ext cx="246888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5" name="Text 73"/>
          <p:cNvSpPr/>
          <p:nvPr/>
        </p:nvSpPr>
        <p:spPr>
          <a:xfrm>
            <a:off x="5532120" y="2103120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</a:rPr>
              <a:t>Medium rewrite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8046720" y="2066544"/>
            <a:ext cx="82296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7" name="Text 75"/>
          <p:cNvSpPr/>
          <p:nvPr/>
        </p:nvSpPr>
        <p:spPr>
          <a:xfrm>
            <a:off x="8092440" y="2103120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0.960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486400" y="2414016"/>
            <a:ext cx="2468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9" name="Text 77"/>
          <p:cNvSpPr/>
          <p:nvPr/>
        </p:nvSpPr>
        <p:spPr>
          <a:xfrm>
            <a:off x="5532120" y="2450592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</a:rPr>
              <a:t>Heavy rewrite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8046720" y="2414016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1" name="Text 79"/>
          <p:cNvSpPr/>
          <p:nvPr/>
        </p:nvSpPr>
        <p:spPr>
          <a:xfrm>
            <a:off x="8092440" y="2450592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0.920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486400" y="2761488"/>
            <a:ext cx="246888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3" name="Text 81"/>
          <p:cNvSpPr/>
          <p:nvPr/>
        </p:nvSpPr>
        <p:spPr>
          <a:xfrm>
            <a:off x="5532120" y="2798064"/>
            <a:ext cx="2377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</a:rPr>
              <a:t>Egyptian Dialect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046720" y="2761488"/>
            <a:ext cx="82296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5" name="Text 83"/>
          <p:cNvSpPr/>
          <p:nvPr/>
        </p:nvSpPr>
        <p:spPr>
          <a:xfrm>
            <a:off x="8092440" y="2798064"/>
            <a:ext cx="731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0.980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5486400" y="38587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66534"/>
                </a:solidFill>
              </a:rPr>
              <a:t>★ Dialect robustness 0.98 — CAMeL normalization + E5 multilingual encoding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8" name="Text 86"/>
          <p:cNvSpPr/>
          <p:nvPr/>
        </p:nvSpPr>
        <p:spPr>
          <a:xfrm>
            <a:off x="502920" y="4681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Bucket B (News KB): P@1 = 0.20 on AraFacts · Expected — viral social media rumors don't appear in news sources by design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System 2B — Youssef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</a:rPr>
              <a:t>Verdict Engine · NLI + Aggregation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75488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6" name="Text 4"/>
          <p:cNvSpPr/>
          <p:nvPr/>
        </p:nvSpPr>
        <p:spPr>
          <a:xfrm>
            <a:off x="502920" y="9509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400E"/>
                </a:solidFill>
              </a:rPr>
              <a:t>INPUT from Russell: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3385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</a:rPr>
              <a:t>claim  ·  verdict_signal  ·  bucket_a[ ]  ·  bucket_b[ 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95097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92400E"/>
                </a:solidFill>
              </a:rPr>
              <a:t>Model: xlm-roberta-large-xnli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3840480" cy="187452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0" name="Text 8"/>
          <p:cNvSpPr/>
          <p:nvPr/>
        </p:nvSpPr>
        <p:spPr>
          <a:xfrm>
            <a:off x="502920" y="1572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6534"/>
                </a:solidFill>
              </a:rPr>
              <a:t>Path 1 — Direct Verdict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8470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Trigger: HIGH_FAKE_MATCH or HIGH_TRUE_MATCH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(Bucket A similarity ≥ 0.90)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2311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</a:rPr>
              <a:t>NLI is NOT run — trust Bucket A directly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4323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6534"/>
                </a:solidFill>
              </a:rPr>
              <a:t>→ final verdict + confidence score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6517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Fast path · no NLI computation needed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28529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</a:rPr>
              <a:t>High confidence by design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80560" y="1508760"/>
            <a:ext cx="4297680" cy="1874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" name="Text 15"/>
          <p:cNvSpPr/>
          <p:nvPr/>
        </p:nvSpPr>
        <p:spPr>
          <a:xfrm>
            <a:off x="461772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</a:rPr>
              <a:t>Path 2 — NLI + Aggregation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18470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Trigger: POSSIBLE / EVIDENCE_FOUND / LOW_CONFIDENCE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17720" y="20665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1. Run NLI on each Bucket B proposition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17720" y="22814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2. Weight stances by hybrid_score (evidence quality)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17720" y="249631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3. Apply Russell's verdict signal as prior nudge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17720" y="271119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4. Map ratio → TRUE / FALSE / UNVERIFIED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17720" y="29260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5. Calculate confidence (capped at 0.95)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17720" y="314096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6. Build human-readable reason string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493008"/>
            <a:ext cx="8412480" cy="43891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6" name="Text 24"/>
          <p:cNvSpPr/>
          <p:nvPr/>
        </p:nvSpPr>
        <p:spPr>
          <a:xfrm>
            <a:off x="502920" y="3566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</a:rPr>
              <a:t>OUTPUT: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28800" y="35478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</a:rPr>
              <a:t>TRUE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49040" y="35478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</a:rPr>
              <a:t>FALSE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77840" y="35478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2400E"/>
                </a:solidFill>
              </a:rPr>
              <a:t>UNVERIFIED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98080" y="35661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+ confidence · stance_breakdown · reason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65760" y="4041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</a:rPr>
              <a:t>Module breakdown: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279392"/>
            <a:ext cx="160020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3" name="Text 31"/>
          <p:cNvSpPr/>
          <p:nvPr/>
        </p:nvSpPr>
        <p:spPr>
          <a:xfrm>
            <a:off x="411480" y="430682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schemas.py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11480" y="4544568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Data models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084832" y="4279392"/>
            <a:ext cx="160020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6" name="Text 34"/>
          <p:cNvSpPr/>
          <p:nvPr/>
        </p:nvSpPr>
        <p:spPr>
          <a:xfrm>
            <a:off x="2130552" y="430682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nli_model.py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130552" y="4544568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NLI inference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03904" y="4279392"/>
            <a:ext cx="160020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39" name="Text 37"/>
          <p:cNvSpPr/>
          <p:nvPr/>
        </p:nvSpPr>
        <p:spPr>
          <a:xfrm>
            <a:off x="3849624" y="430682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aggregator.py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849624" y="4544568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Stance weighting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522976" y="4279392"/>
            <a:ext cx="160020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2" name="Text 40"/>
          <p:cNvSpPr/>
          <p:nvPr/>
        </p:nvSpPr>
        <p:spPr>
          <a:xfrm>
            <a:off x="5568696" y="430682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reason_builder.py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568696" y="4544568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Reason text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242048" y="4279392"/>
            <a:ext cx="160020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45" name="Text 43"/>
          <p:cNvSpPr/>
          <p:nvPr/>
        </p:nvSpPr>
        <p:spPr>
          <a:xfrm>
            <a:off x="7287768" y="430682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verdict_engine.py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287768" y="4544568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</a:rPr>
              <a:t>Main orchestrator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</a:rPr>
              <a:t>How It All Connects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JSON contract between systems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46888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6534"/>
                </a:solidFill>
              </a:rPr>
              <a:t>Sarah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26080" y="1344168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280"/>
                </a:solidFill>
              </a:rPr>
              <a:t>Sends: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claim + sarah_signal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+ sarah_confidence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4688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1" name="Text 9"/>
          <p:cNvSpPr/>
          <p:nvPr/>
        </p:nvSpPr>
        <p:spPr>
          <a:xfrm>
            <a:off x="3291840" y="1161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6E"/>
                </a:solidFill>
              </a:rPr>
              <a:t>Russell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60720" y="1344168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3" name="Shape 11"/>
          <p:cNvSpPr/>
          <p:nvPr/>
        </p:nvSpPr>
        <p:spPr>
          <a:xfrm>
            <a:off x="3291840" y="1737360"/>
            <a:ext cx="246888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4" name="Text 12"/>
          <p:cNvSpPr/>
          <p:nvPr/>
        </p:nvSpPr>
        <p:spPr>
          <a:xfrm>
            <a:off x="3383280" y="1783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280"/>
                </a:solidFill>
              </a:rPr>
              <a:t>Sends: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83280" y="19659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verdict_signal + bucket_a[]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+ bucket_b[] + confidence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46888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7" name="Text 15"/>
          <p:cNvSpPr/>
          <p:nvPr/>
        </p:nvSpPr>
        <p:spPr>
          <a:xfrm>
            <a:off x="6126480" y="11612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2400E"/>
                </a:solidFill>
              </a:rPr>
              <a:t>Youssef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26480" y="1737360"/>
            <a:ext cx="246888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19" name="Text 17"/>
          <p:cNvSpPr/>
          <p:nvPr/>
        </p:nvSpPr>
        <p:spPr>
          <a:xfrm>
            <a:off x="6217920" y="1783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280"/>
                </a:solidFill>
              </a:rPr>
              <a:t>Sends: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17920" y="19659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final_verdict + confidence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827"/>
                </a:solidFill>
              </a:rPr>
              <a:t>+ stance_breakdown + reason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651760"/>
            <a:ext cx="8229600" cy="2194560"/>
          </a:xfrm>
          <a:prstGeom prst="rect">
            <a:avLst/>
          </a:prstGeom>
          <a:solidFill>
            <a:srgbClr val="1E1E2E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EG"/>
          </a:p>
        </p:txBody>
      </p:sp>
      <p:sp>
        <p:nvSpPr>
          <p:cNvPr id="22" name="Text 20"/>
          <p:cNvSpPr/>
          <p:nvPr/>
        </p:nvSpPr>
        <p:spPr>
          <a:xfrm>
            <a:off x="640080" y="27157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Russell's JSON Output (sample)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2999232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"claim": "السيسي باع سيناء لإسرائيل"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" y="3328416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"verdict_signal": "POSSIBLE_FAKE",   "confidence": 0.74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" y="3657600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"bucket_a": [{ "text": "...", "label": "FALSE", "similarity": 0.851 }]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" y="3986784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"bucket_b": [{ "text": "...", "source": "AlJazeera", "score": 0.821 }]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0080" y="431596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"sarah_signal": "FAKE_LIKELY",   "sarah_confidence": 0.88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749</Words>
  <Application>Microsoft Macintosh PowerPoint</Application>
  <PresentationFormat>On-screen Show (16:9)</PresentationFormat>
  <Paragraphs>164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Fake News Detection — Team Presentation</dc:title>
  <dc:subject>PptxGenJS Presentation</dc:subject>
  <dc:creator>PptxGenJS</dc:creator>
  <cp:lastModifiedBy>Russell Mohamed Tamer Ismail El Shafey</cp:lastModifiedBy>
  <cp:revision>2</cp:revision>
  <dcterms:created xsi:type="dcterms:W3CDTF">2026-06-16T00:42:58Z</dcterms:created>
  <dcterms:modified xsi:type="dcterms:W3CDTF">2026-06-16T00:52:06Z</dcterms:modified>
</cp:coreProperties>
</file>